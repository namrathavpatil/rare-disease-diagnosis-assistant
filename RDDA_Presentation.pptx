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4A574"/>
                </a:solidFill>
              </a:defRPr>
            </a:pPr>
            <a:r>
              <a:t>Rare Disease Diagnosis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An Explainable, RAG-based AI System for Rare Disease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Powered by Anthropic Claude  |  Build4SC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Namratha Patil  —  USC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574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300+ million people worldwide have a rare disease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F87171"/>
                </a:solidFill>
              </a:defRPr>
            </a:pPr>
            <a:r>
              <a:t>5-7 years — average time to get diagnosed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700" b="0">
                <a:solidFill>
                  <a:srgbClr val="94A3B8"/>
                </a:solidFill>
              </a:defRPr>
            </a:pPr>
            <a:r>
              <a:t>Medical data is scattered across PubMed, Orphanet, FDA — no single source of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0292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6459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What doctors face: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700" b="0">
                <a:solidFill>
                  <a:srgbClr val="94A3B8"/>
                </a:solidFill>
              </a:defRPr>
            </a:pPr>
            <a:r>
              <a:t>• Information overload from 7000+ rare diseases</a:t>
            </a:r>
          </a:p>
          <a:p>
            <a:pPr>
              <a:spcBef>
                <a:spcPts val="600"/>
              </a:spcBef>
              <a:defRPr sz="1700" b="0">
                <a:solidFill>
                  <a:srgbClr val="94A3B8"/>
                </a:solidFill>
              </a:defRPr>
            </a:pPr>
            <a:r>
              <a:t>• No consolidated, up-to-date knowledge base</a:t>
            </a:r>
          </a:p>
          <a:p>
            <a:pPr>
              <a:spcBef>
                <a:spcPts val="600"/>
              </a:spcBef>
              <a:defRPr sz="1700" b="0">
                <a:solidFill>
                  <a:srgbClr val="94A3B8"/>
                </a:solidFill>
              </a:defRPr>
            </a:pPr>
            <a:r>
              <a:t>• Lack of explainable AI tools with citations</a:t>
            </a:r>
          </a:p>
          <a:p>
            <a:pPr>
              <a:spcBef>
                <a:spcPts val="600"/>
              </a:spcBef>
              <a:defRPr sz="1700" b="0">
                <a:solidFill>
                  <a:srgbClr val="94A3B8"/>
                </a:solidFill>
              </a:defRPr>
            </a:pPr>
            <a:r>
              <a:t>• Existing tools don't show reasoning or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ADE80"/>
                </a:solidFill>
              </a:defRPr>
            </a:pPr>
            <a:r>
              <a:t>RDDA bridges this gap: real-time data retrieval + AI reasoning + source citations + knowledge graph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574"/>
                </a:solidFill>
              </a:defRPr>
            </a:pPr>
            <a:r>
              <a:t>How It Works —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7373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1. User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"Symptoms of</a:t>
            </a:r>
            <a:br/>
            <a:r>
              <a:t>Marfan syndrome?"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463040"/>
            <a:ext cx="17373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</a:defRPr>
            </a:pPr>
            <a:r>
              <a:t>2. Entity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103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Claude extracts diseases,</a:t>
            </a:r>
            <a:br/>
            <a:r>
              <a:t>drugs, 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63040"/>
            <a:ext cx="17373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</a:defRPr>
            </a:pPr>
            <a:r>
              <a:t>3. 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2103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PubMed + Orphanet</a:t>
            </a:r>
            <a:br/>
            <a:r>
              <a:t>+ FDA APIs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19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1463040"/>
            <a:ext cx="17373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39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4. Knowledge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39" y="2103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NetworkX graph with</a:t>
            </a:r>
            <a:br/>
            <a:r>
              <a:t>semantic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1463040"/>
            <a:ext cx="17373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9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5. RAG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2103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FAISS vector search</a:t>
            </a:r>
            <a:br/>
            <a:r>
              <a:t>+ Claude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59" y="22860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21240" y="1463040"/>
            <a:ext cx="1737360" cy="25603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574"/>
                </a:solidFill>
              </a:defRPr>
            </a:pPr>
            <a:r>
              <a:t>6.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10312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</a:defRPr>
            </a:pPr>
            <a:r>
              <a:t>Cited answer +</a:t>
            </a:r>
            <a:br/>
            <a:r>
              <a:t>confidence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37760"/>
            <a:ext cx="1417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8348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74"/>
                </a:solidFill>
              </a:defRPr>
            </a:pPr>
            <a:r>
              <a:t>Anthropic Claude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4937760"/>
            <a:ext cx="1417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498348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74"/>
                </a:solidFill>
              </a:defRPr>
            </a:pPr>
            <a:r>
              <a:t>FastAPI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4937760"/>
            <a:ext cx="1417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498348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74"/>
                </a:solidFill>
              </a:defRPr>
            </a:pPr>
            <a:r>
              <a:t>FAISS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59" y="4937760"/>
            <a:ext cx="1417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40679" y="498348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74"/>
                </a:solidFill>
              </a:defRPr>
            </a:pPr>
            <a:r>
              <a:t>Sentence Transformers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4937760"/>
            <a:ext cx="1417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59" y="498348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74"/>
                </a:solidFill>
              </a:defRPr>
            </a:pPr>
            <a:r>
              <a:t>NetworkX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4937760"/>
            <a:ext cx="1417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498348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74"/>
                </a:solidFill>
              </a:defRPr>
            </a:pPr>
            <a:r>
              <a:t>spaCy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4937760"/>
            <a:ext cx="14173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19" y="498348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574"/>
                </a:solidFill>
              </a:defRPr>
            </a:pPr>
            <a:r>
              <a:t>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574"/>
                </a:solidFill>
              </a:defRPr>
            </a:pPr>
            <a:r>
              <a:t>Anthropic Claude Integration — 4 Core Uses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</a:defRPr>
            </a:pPr>
            <a:r>
              <a:t>1. Medical Entity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Claude extracts diseases, drugs, symptoms from free text.</a:t>
            </a:r>
            <a:br/>
            <a:r>
              <a:t>Infers relationships (treats, has_symptom, causes).</a:t>
            </a:r>
            <a:br/>
            <a:r>
              <a:t>Builds structured knowledge graph nodes/edges.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</a:defRPr>
            </a:pPr>
            <a:r>
              <a:t>📄 entity_extractor_llm.py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</a:defRPr>
            </a:pPr>
            <a:r>
              <a:t>2. RAG Answer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Generates evidence-based answers from retrieved context.</a:t>
            </a:r>
            <a:br/>
            <a:r>
              <a:t>Synthesizes info from PubMed, Orphanet, FDA.</a:t>
            </a:r>
            <a:br/>
            <a:r>
              <a:t>Cites sources in response.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108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</a:defRPr>
            </a:pPr>
            <a:r>
              <a:t>📄 rag_engine.py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</a:defRPr>
            </a:pPr>
            <a:r>
              <a:t>3. Confidence Self-Assessment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Claude rates its own confidence (0–1) based on evidence.</a:t>
            </a:r>
            <a:br/>
            <a:r>
              <a:t>If confidence &lt; 0.7, generates clarifying follow-up questions.</a:t>
            </a:r>
            <a:br/>
            <a:r>
              <a:t>Two-stage: FAISS retrieval score + LLM self-rating.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</a:defRPr>
            </a:pPr>
            <a:r>
              <a:t>📄 rag_engine.py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31920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574"/>
                </a:solidFill>
              </a:defRPr>
            </a:pPr>
            <a:r>
              <a:t>4. Knowledge Graph Unification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Claude merges entities from all 3 data sources.</a:t>
            </a:r>
            <a:br/>
            <a:r>
              <a:t>Deduplicates and links related entities.</a:t>
            </a:r>
            <a:br/>
            <a:r>
              <a:t>Produces unified graph with max 30 nodes.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6692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</a:defRPr>
            </a:pPr>
            <a:r>
              <a:t>📄 main.py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574"/>
                </a:solidFill>
              </a:defRPr>
            </a:pPr>
            <a:r>
              <a:t>How the Knowledge Graph is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</a:defRPr>
            </a:pPr>
            <a:r>
              <a:t>Step 1: Data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• PubMed: Fetch research articles via NCBI E-utilities API</a:t>
            </a:r>
            <a:br/>
            <a:r>
              <a:t>  → titles, abstracts, MeSH terms, chemicals</a:t>
            </a:r>
            <a:br/>
            <a:r>
              <a:t>• Orphanet: Fetch rare disease data via REST API</a:t>
            </a:r>
            <a:br/>
            <a:r>
              <a:t>  → definitions, prevalence, phenotypes, inheritance</a:t>
            </a:r>
            <a:br/>
            <a:r>
              <a:t>• FDA: Fetch drug labels via OpenFDA API</a:t>
            </a:r>
            <a:br/>
            <a:r>
              <a:t>  → indications, dosage, warnings, adverse reactions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69848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</a:defRPr>
            </a:pPr>
            <a:r>
              <a:t>Step 2: Text Chunking &amp; Embedding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• Split each document into overlapping chunks (800 chars, 150 overlap)</a:t>
            </a:r>
            <a:br/>
            <a:r>
              <a:t>• Generate 384-dim embeddings using Sentence Transformers</a:t>
            </a:r>
            <a:br/>
            <a:r>
              <a:t>  (all-MiniLM-L6-v2 / BioBERT)</a:t>
            </a:r>
            <a:br/>
            <a:r>
              <a:t>• Each chunk retains source metadata (PMID, OrphaCode, drug name)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79"/>
            <a:ext cx="1069848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46319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Step 3: FAISS Index + Graph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79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• Build FAISS IndexFlatIP for cosine similarity search</a:t>
            </a:r>
            <a:br/>
            <a:r>
              <a:t>• NetworkX graph: nodes = diseases, drugs, symptoms, phenotypes</a:t>
            </a:r>
            <a:br/>
            <a:r>
              <a:t>• Edges = relationships (treats, has_symptom, causes, associated_with)</a:t>
            </a:r>
            <a:br/>
            <a:r>
              <a:t>• Claude unifies entities across all 3 sources, deduplicates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574"/>
                </a:solidFill>
              </a:defRPr>
            </a:pPr>
            <a:r>
              <a:t>How Confidence is Calculated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</a:defRPr>
            </a:pPr>
            <a:r>
              <a:t>Stage 1: Retrieval Confidence (FAISS)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94A3B8"/>
                </a:solidFill>
              </a:defRPr>
            </a:pPr>
            <a:r>
              <a:t>• FAISS computes cosine similarity between query</a:t>
            </a:r>
          </a:p>
          <a:p>
            <a:pPr>
              <a:spcBef>
                <a:spcPts val="600"/>
              </a:spcBef>
              <a:defRPr sz="1500" b="0">
                <a:solidFill>
                  <a:srgbClr val="94A3B8"/>
                </a:solidFill>
              </a:defRPr>
            </a:pPr>
            <a:r>
              <a:t>  embedding and each chunk embedding</a:t>
            </a:r>
          </a:p>
          <a:p>
            <a:pPr>
              <a:spcBef>
                <a:spcPts val="600"/>
              </a:spcBef>
              <a:defRPr sz="1500" b="0">
                <a:solidFill>
                  <a:srgbClr val="94A3B8"/>
                </a:solidFill>
              </a:defRPr>
            </a:pPr>
            <a:r>
              <a:t>• Top score from retrieved chunks = retrieval confidence</a:t>
            </a:r>
          </a:p>
          <a:p>
            <a:pPr>
              <a:spcBef>
                <a:spcPts val="600"/>
              </a:spcBef>
              <a:defRPr sz="1500" b="0">
                <a:solidFill>
                  <a:srgbClr val="94A3B8"/>
                </a:solidFill>
              </a:defRPr>
            </a:pPr>
            <a:r>
              <a:t>• Higher score = more semantically relevant context found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4ADE80"/>
                </a:solidFill>
              </a:defRPr>
            </a:pPr>
            <a:r>
              <a:t>Formula: score = dot(query_vec, chunk_vec)</a:t>
            </a:r>
          </a:p>
          <a:p>
            <a:pPr>
              <a:spcBef>
                <a:spcPts val="600"/>
              </a:spcBef>
              <a:defRPr sz="1400" b="0">
                <a:solidFill>
                  <a:srgbClr val="4ADE80"/>
                </a:solidFill>
              </a:defRPr>
            </a:pPr>
            <a:r>
              <a:t>Using IndexFlatIP (inner product ≈ cosine sim)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1206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Stage 2: LLM Self-Assessment (Claude)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94A3B8"/>
                </a:solidFill>
              </a:defRPr>
            </a:pPr>
            <a:r>
              <a:t>• After generating the answer, Claude is asked:</a:t>
            </a:r>
          </a:p>
          <a:p>
            <a:pPr>
              <a:spcBef>
                <a:spcPts val="600"/>
              </a:spcBef>
              <a:defRPr sz="1500" b="0">
                <a:solidFill>
                  <a:srgbClr val="94A3B8"/>
                </a:solidFill>
              </a:defRPr>
            </a:pPr>
            <a:r>
              <a:t>  "Rate your confidence 0-1 based on the</a:t>
            </a:r>
          </a:p>
          <a:p>
            <a:pPr>
              <a:spcBef>
                <a:spcPts val="600"/>
              </a:spcBef>
              <a:defRPr sz="1500" b="0">
                <a:solidFill>
                  <a:srgbClr val="94A3B8"/>
                </a:solidFill>
              </a:defRPr>
            </a:pPr>
            <a:r>
              <a:t>   context and answer quality"</a:t>
            </a:r>
          </a:p>
          <a:p>
            <a:pPr>
              <a:spcBef>
                <a:spcPts val="600"/>
              </a:spcBef>
              <a:defRPr sz="1500" b="0">
                <a:solidFill>
                  <a:srgbClr val="94A3B8"/>
                </a:solidFill>
              </a:defRPr>
            </a:pPr>
            <a:r>
              <a:t>• Claude evaluates: evidence strength, coverage,</a:t>
            </a:r>
          </a:p>
          <a:p>
            <a:pPr>
              <a:spcBef>
                <a:spcPts val="600"/>
              </a:spcBef>
              <a:defRPr sz="1500" b="0">
                <a:solidFill>
                  <a:srgbClr val="94A3B8"/>
                </a:solidFill>
              </a:defRPr>
            </a:pPr>
            <a:r>
              <a:t>  source agreement, completeness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F87171"/>
                </a:solidFill>
              </a:defRPr>
            </a:pPr>
            <a:r>
              <a:t>If confidence &lt; 0.7 → auto-generates</a:t>
            </a:r>
          </a:p>
          <a:p>
            <a:pPr>
              <a:spcBef>
                <a:spcPts val="600"/>
              </a:spcBef>
              <a:defRPr sz="1400" b="1">
                <a:solidFill>
                  <a:srgbClr val="F87171"/>
                </a:solidFill>
              </a:defRPr>
            </a:pPr>
            <a:r>
              <a:t>  follow-up clarifying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74"/>
                </a:solidFill>
              </a:defRPr>
            </a:pPr>
            <a:r>
              <a:t>Final Confidence = Claude's self-assessed score (falls back to retrieval score if parsing fails)</a:t>
            </a:r>
            <a:br/>
            <a:r>
              <a:t>→ Displayed to user as percentage  |  Low confidence triggers follow-up questions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574"/>
                </a:solidFill>
              </a:defRPr>
            </a:pPr>
            <a:r>
              <a:t>Data Sources — What Each API Does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0A5FA"/>
                </a:solidFill>
              </a:defRPr>
            </a:pPr>
            <a:r>
              <a:t>PubMed (NCBI E-utilities)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What: Medical research articles, abstracts, MeSH terms</a:t>
            </a:r>
            <a:br/>
            <a:r>
              <a:t>How: esearch → get PMIDs matching query, then efetch → get full article data</a:t>
            </a:r>
            <a:br/>
            <a:r>
              <a:t>Returns: title, abstract, authors, journal, publication date, chemicals, MeSH terms</a:t>
            </a:r>
            <a:br/>
            <a:r>
              <a:t>Used for: Evidence-based medical knowledge, latest research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4A574"/>
                </a:solidFill>
              </a:defRPr>
            </a:pPr>
            <a:r>
              <a:t>pubmed_collector.py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</a:defRPr>
            </a:pPr>
            <a:r>
              <a:t>Orphanet (REST 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What: Rare disease definitions, prevalence, phenotypes, inheritance patterns</a:t>
            </a:r>
            <a:br/>
            <a:r>
              <a:t>How: Search by disease name → get OrphaCode → fetch detailed disease data</a:t>
            </a:r>
            <a:br/>
            <a:r>
              <a:t>Returns: clinical description, prevalence, age of onset, inheritance, phenotype list</a:t>
            </a:r>
            <a:br/>
            <a:r>
              <a:t>Used for: Rare disease-specific knowledge not in general medical databases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4A574"/>
                </a:solidFill>
              </a:defRPr>
            </a:pPr>
            <a:r>
              <a:t>orphanet_collector.py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79"/>
            <a:ext cx="10698480" cy="15544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19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</a:defRPr>
            </a:pPr>
            <a:r>
              <a:t>FDA (OpenFDA 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12079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What: Drug labels, adverse events, safety information</a:t>
            </a:r>
            <a:br/>
            <a:r>
              <a:t>How: Search drug/label endpoint by disease-related drug names</a:t>
            </a:r>
            <a:br/>
            <a:r>
              <a:t>Returns: indications, dosage, warnings, adverse reactions, drug interactions</a:t>
            </a:r>
            <a:br/>
            <a:r>
              <a:t>Used for: Treatment options, drug safety profiles, contraindications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8463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4A574"/>
                </a:solidFill>
              </a:defRPr>
            </a:pPr>
            <a:r>
              <a:t>fda_collector.py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574"/>
                </a:solidFill>
              </a:defRPr>
            </a:pPr>
            <a:r>
              <a:t>RAG Pipeline — How Answers Are Generated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1. Query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User question is encoded into a 384-dimensional vector using Sentence Transformers (all-MiniLM-L6-v2)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2. Semantic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FAISS searches the vector index to find the top-5 most relevant chunks from 1500+ pre-indexed 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3. Context Assembly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Retrieved chunks are organized by source (PubMed / Orphanet / FDA) with their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92608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4. Prompt 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Context + query are formatted into a structured prompt for Claude with source-citation instructions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5. Claude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Claude synthesizes information across sources, generates evidence-based answer with inline citations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72000"/>
            <a:ext cx="53035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574"/>
                </a:solidFill>
              </a:defRPr>
            </a:pPr>
            <a:r>
              <a:t>6. Confidence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1206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Claude self-assesses confidence 0-1. If &lt; 0.7, generates a follow-up question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574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1.  Enter disease name → Build Knowledge Graph from PubMed + Orphanet + FDA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2.  Ask a medical question → Claude generates cited, confidence-scored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3.  Interactive graph → drag nodes, hover for details, entity highlighting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4.  Source citations → clickable PubMed, Orphanet, FDA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754880"/>
            <a:ext cx="7315200" cy="10972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484632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74"/>
                </a:solidFill>
              </a:defRPr>
            </a:pPr>
            <a:r>
              <a:t>Try: "What are the symptoms and treatment options for Marfan syndrome?"</a:t>
            </a:r>
            <a:br/>
            <a:r>
              <a:t>→ Builds graph (30 nodes) → Retrieves from 1500+ chunks → Generates cited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574"/>
                </a:solidFill>
              </a:defRPr>
            </a:pPr>
            <a:r>
              <a:t>Impact &amp; Future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</a:defRPr>
            </a:pPr>
            <a:r>
              <a:t>Impact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</a:defRPr>
            </a:pPr>
            <a:r>
              <a:t>• Reduces diagnosis time from years to minutes</a:t>
            </a: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</a:defRPr>
            </a:pPr>
            <a:r>
              <a:t>• Consolidates 3 major medical databases into one view</a:t>
            </a: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</a:defRPr>
            </a:pPr>
            <a:r>
              <a:t>• Explainable AI — every answer is cited &amp; scored</a:t>
            </a: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</a:defRPr>
            </a:pPr>
            <a:r>
              <a:t>• Accessible to doctors, researchers, and patients</a:t>
            </a: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</a:defRPr>
            </a:pPr>
            <a:r>
              <a:t>• Open source — can be extended to more data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12064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</a:defRPr>
            </a:pPr>
            <a:r>
              <a:t>Future Work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</a:defRPr>
            </a:pPr>
            <a:r>
              <a:t>• Add UMLS / SNOMED ontology mapping</a:t>
            </a: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</a:defRPr>
            </a:pPr>
            <a:r>
              <a:t>• Multi-turn conversation with memory</a:t>
            </a: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</a:defRPr>
            </a:pPr>
            <a:r>
              <a:t>• Patient phenotype matching (HPO terms)</a:t>
            </a: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</a:defRPr>
            </a:pPr>
            <a:r>
              <a:t>• Clinical trial integration (ClinicalTrials.gov)</a:t>
            </a:r>
          </a:p>
          <a:p>
            <a:pPr>
              <a:spcBef>
                <a:spcPts val="600"/>
              </a:spcBef>
              <a:defRPr sz="1600" b="0">
                <a:solidFill>
                  <a:srgbClr val="94A3B8"/>
                </a:solidFill>
              </a:defRPr>
            </a:pPr>
            <a:r>
              <a:t>• Physician feedback loop for model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4A574"/>
                </a:solidFill>
              </a:defRPr>
            </a:pPr>
            <a:r>
              <a:t>Thank You!  — 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github.com/namrathavpatil/Disease-Diagnosis-Assistant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